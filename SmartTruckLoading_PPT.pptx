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6.svg"/><Relationship Id="rId3" Type="http://schemas.openxmlformats.org/officeDocument/2006/relationships/image" Target="../media/image18.svg"/><Relationship Id="rId7" Type="http://schemas.openxmlformats.org/officeDocument/2006/relationships/image" Target="../media/image2.svg"/><Relationship Id="rId12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24.sv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6.svg"/><Relationship Id="rId5" Type="http://schemas.openxmlformats.org/officeDocument/2006/relationships/image" Target="../media/image26.svg"/><Relationship Id="rId10" Type="http://schemas.openxmlformats.org/officeDocument/2006/relationships/image" Target="../media/image15.png"/><Relationship Id="rId4" Type="http://schemas.openxmlformats.org/officeDocument/2006/relationships/image" Target="../media/image25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4.svg"/><Relationship Id="rId7" Type="http://schemas.openxmlformats.org/officeDocument/2006/relationships/image" Target="../media/image3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hyperlink" Target="https://github.com/SaiTejaVemulapalli/Smart-Delivery-Load-Routing-and-Package-Management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76025" y="3030869"/>
            <a:ext cx="6100088" cy="5922631"/>
          </a:xfrm>
          <a:custGeom>
            <a:avLst/>
            <a:gdLst/>
            <a:ahLst/>
            <a:cxnLst/>
            <a:rect l="l" t="t" r="r" b="b"/>
            <a:pathLst>
              <a:path w="6100088" h="5922631">
                <a:moveTo>
                  <a:pt x="0" y="0"/>
                </a:moveTo>
                <a:lnTo>
                  <a:pt x="6100088" y="0"/>
                </a:lnTo>
                <a:lnTo>
                  <a:pt x="6100088" y="5922631"/>
                </a:lnTo>
                <a:lnTo>
                  <a:pt x="0" y="5922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3922087"/>
            <a:ext cx="4686165" cy="5336213"/>
          </a:xfrm>
          <a:custGeom>
            <a:avLst/>
            <a:gdLst/>
            <a:ahLst/>
            <a:cxnLst/>
            <a:rect l="l" t="t" r="r" b="b"/>
            <a:pathLst>
              <a:path w="4686165" h="5336213">
                <a:moveTo>
                  <a:pt x="0" y="0"/>
                </a:moveTo>
                <a:lnTo>
                  <a:pt x="4686165" y="0"/>
                </a:lnTo>
                <a:lnTo>
                  <a:pt x="4686165" y="5336213"/>
                </a:lnTo>
                <a:lnTo>
                  <a:pt x="0" y="5336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482414" y="7568405"/>
            <a:ext cx="776886" cy="77688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97883" y="7027156"/>
            <a:ext cx="541249" cy="54124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22954" y="1028700"/>
            <a:ext cx="336346" cy="33634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0769" y="1130096"/>
            <a:ext cx="1623060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Delivery Load &amp; Route Optimization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05152" y="8943975"/>
            <a:ext cx="3654148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 - 6940 - Project Seminar</a:t>
            </a:r>
          </a:p>
          <a:p>
            <a:pPr algn="l">
              <a:lnSpc>
                <a:spcPts val="2400"/>
              </a:lnSpc>
            </a:pPr>
            <a:r>
              <a:rPr lang="en-US" sz="2000" b="1" spc="-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By: Sai Teja Vemulapalli</a:t>
            </a:r>
          </a:p>
          <a:p>
            <a:pPr algn="l">
              <a:lnSpc>
                <a:spcPts val="2400"/>
              </a:lnSpc>
            </a:pPr>
            <a:r>
              <a:rPr lang="en-US" sz="2000" b="1" spc="-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Oakland University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98356" y="7420552"/>
            <a:ext cx="2528571" cy="2271117"/>
          </a:xfrm>
          <a:custGeom>
            <a:avLst/>
            <a:gdLst/>
            <a:ahLst/>
            <a:cxnLst/>
            <a:rect l="l" t="t" r="r" b="b"/>
            <a:pathLst>
              <a:path w="2528571" h="2271117">
                <a:moveTo>
                  <a:pt x="0" y="0"/>
                </a:moveTo>
                <a:lnTo>
                  <a:pt x="2528571" y="0"/>
                </a:lnTo>
                <a:lnTo>
                  <a:pt x="2528571" y="2271116"/>
                </a:lnTo>
                <a:lnTo>
                  <a:pt x="0" y="227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030549" y="1867340"/>
            <a:ext cx="871787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69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 Data-Driven Decision Support System for Truck Loading &amp; Delivery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07890" y="1821750"/>
            <a:ext cx="10051410" cy="7436550"/>
            <a:chOff x="0" y="0"/>
            <a:chExt cx="1260261" cy="9324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261" cy="932406"/>
            </a:xfrm>
            <a:custGeom>
              <a:avLst/>
              <a:gdLst/>
              <a:ahLst/>
              <a:cxnLst/>
              <a:rect l="l" t="t" r="r" b="b"/>
              <a:pathLst>
                <a:path w="1260261" h="932406">
                  <a:moveTo>
                    <a:pt x="19256" y="0"/>
                  </a:moveTo>
                  <a:lnTo>
                    <a:pt x="1241005" y="0"/>
                  </a:lnTo>
                  <a:cubicBezTo>
                    <a:pt x="1246112" y="0"/>
                    <a:pt x="1251010" y="2029"/>
                    <a:pt x="1254621" y="5640"/>
                  </a:cubicBezTo>
                  <a:cubicBezTo>
                    <a:pt x="1258233" y="9251"/>
                    <a:pt x="1260261" y="14149"/>
                    <a:pt x="1260261" y="19256"/>
                  </a:cubicBezTo>
                  <a:lnTo>
                    <a:pt x="1260261" y="913150"/>
                  </a:lnTo>
                  <a:cubicBezTo>
                    <a:pt x="1260261" y="918257"/>
                    <a:pt x="1258233" y="923155"/>
                    <a:pt x="1254621" y="926766"/>
                  </a:cubicBezTo>
                  <a:cubicBezTo>
                    <a:pt x="1251010" y="930377"/>
                    <a:pt x="1246112" y="932406"/>
                    <a:pt x="1241005" y="932406"/>
                  </a:cubicBezTo>
                  <a:lnTo>
                    <a:pt x="19256" y="932406"/>
                  </a:lnTo>
                  <a:cubicBezTo>
                    <a:pt x="14149" y="932406"/>
                    <a:pt x="9251" y="930377"/>
                    <a:pt x="5640" y="926766"/>
                  </a:cubicBezTo>
                  <a:cubicBezTo>
                    <a:pt x="2029" y="923155"/>
                    <a:pt x="0" y="918257"/>
                    <a:pt x="0" y="913150"/>
                  </a:cubicBezTo>
                  <a:lnTo>
                    <a:pt x="0" y="19256"/>
                  </a:lnTo>
                  <a:cubicBezTo>
                    <a:pt x="0" y="14149"/>
                    <a:pt x="2029" y="9251"/>
                    <a:pt x="5640" y="5640"/>
                  </a:cubicBezTo>
                  <a:cubicBezTo>
                    <a:pt x="9251" y="2029"/>
                    <a:pt x="14149" y="0"/>
                    <a:pt x="19256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260261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51026"/>
            <a:ext cx="1425926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Industry Description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87967" y="834275"/>
            <a:ext cx="793050" cy="7930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96985">
            <a:off x="961000" y="4284944"/>
            <a:ext cx="6179190" cy="4887177"/>
          </a:xfrm>
          <a:custGeom>
            <a:avLst/>
            <a:gdLst/>
            <a:ahLst/>
            <a:cxnLst/>
            <a:rect l="l" t="t" r="r" b="b"/>
            <a:pathLst>
              <a:path w="6179190" h="4887177">
                <a:moveTo>
                  <a:pt x="0" y="0"/>
                </a:moveTo>
                <a:lnTo>
                  <a:pt x="6179190" y="0"/>
                </a:lnTo>
                <a:lnTo>
                  <a:pt x="6179190" y="4887177"/>
                </a:lnTo>
                <a:lnTo>
                  <a:pt x="0" y="4887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448816" y="2060821"/>
            <a:ext cx="9618312" cy="655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 spc="-9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Industry Context:</a:t>
            </a:r>
          </a:p>
          <a:p>
            <a:pPr algn="l">
              <a:lnSpc>
                <a:spcPts val="3239"/>
              </a:lnSpc>
            </a:pPr>
            <a:r>
              <a:rPr lang="en-US" sz="2699" spc="-94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 Logistics &amp; Transportation(e.g., large parcel delivery and e-commerce fulfillment companies)</a:t>
            </a:r>
          </a:p>
          <a:p>
            <a:pPr algn="l">
              <a:lnSpc>
                <a:spcPts val="3239"/>
              </a:lnSpc>
            </a:pPr>
            <a:endParaRPr lang="en-US" sz="2699" spc="-94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 spc="-94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Logistics organizations manage high volumes of packages that must be loaded, tracked, and delivered daily.</a:t>
            </a:r>
          </a:p>
          <a:p>
            <a:pPr algn="l">
              <a:lnSpc>
                <a:spcPts val="3239"/>
              </a:lnSpc>
            </a:pPr>
            <a:endParaRPr lang="en-US" sz="2699" spc="-94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 spc="-94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Operations involve warehouses, trucks of different sizes, dispatch schedules, and multiple delivery locations.</a:t>
            </a:r>
          </a:p>
          <a:p>
            <a:pPr algn="l">
              <a:lnSpc>
                <a:spcPts val="3239"/>
              </a:lnSpc>
            </a:pPr>
            <a:endParaRPr lang="en-US" sz="2699" spc="-94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 spc="-94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Efficiency depends on how well packages are packed into trucks, sequenced for delivery, and monitored through execution.</a:t>
            </a:r>
          </a:p>
          <a:p>
            <a:pPr algn="l">
              <a:lnSpc>
                <a:spcPts val="3239"/>
              </a:lnSpc>
            </a:pPr>
            <a:endParaRPr lang="en-US" sz="2699" spc="-94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239"/>
              </a:lnSpc>
            </a:pPr>
            <a:r>
              <a:rPr lang="en-US" sz="2699" spc="-94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This project is designed to reflect real-world logistics operations at a warehouse and dispatch level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077401" y="639851"/>
            <a:ext cx="388849" cy="3888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23638"/>
            <a:ext cx="9577593" cy="7689054"/>
            <a:chOff x="0" y="0"/>
            <a:chExt cx="2522494" cy="2025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2494" cy="2025101"/>
            </a:xfrm>
            <a:custGeom>
              <a:avLst/>
              <a:gdLst/>
              <a:ahLst/>
              <a:cxnLst/>
              <a:rect l="l" t="t" r="r" b="b"/>
              <a:pathLst>
                <a:path w="2522494" h="2025101">
                  <a:moveTo>
                    <a:pt x="20208" y="0"/>
                  </a:moveTo>
                  <a:lnTo>
                    <a:pt x="2502285" y="0"/>
                  </a:lnTo>
                  <a:cubicBezTo>
                    <a:pt x="2513446" y="0"/>
                    <a:pt x="2522494" y="9048"/>
                    <a:pt x="2522494" y="20208"/>
                  </a:cubicBezTo>
                  <a:lnTo>
                    <a:pt x="2522494" y="2004892"/>
                  </a:lnTo>
                  <a:cubicBezTo>
                    <a:pt x="2522494" y="2010252"/>
                    <a:pt x="2520364" y="2015392"/>
                    <a:pt x="2516575" y="2019182"/>
                  </a:cubicBezTo>
                  <a:cubicBezTo>
                    <a:pt x="2512785" y="2022972"/>
                    <a:pt x="2507645" y="2025101"/>
                    <a:pt x="2502285" y="2025101"/>
                  </a:cubicBezTo>
                  <a:lnTo>
                    <a:pt x="20208" y="2025101"/>
                  </a:lnTo>
                  <a:cubicBezTo>
                    <a:pt x="14849" y="2025101"/>
                    <a:pt x="9709" y="2022972"/>
                    <a:pt x="5919" y="2019182"/>
                  </a:cubicBezTo>
                  <a:cubicBezTo>
                    <a:pt x="2129" y="2015392"/>
                    <a:pt x="0" y="2010252"/>
                    <a:pt x="0" y="2004892"/>
                  </a:cubicBezTo>
                  <a:lnTo>
                    <a:pt x="0" y="20208"/>
                  </a:lnTo>
                  <a:cubicBezTo>
                    <a:pt x="0" y="14849"/>
                    <a:pt x="2129" y="9709"/>
                    <a:pt x="5919" y="5919"/>
                  </a:cubicBezTo>
                  <a:cubicBezTo>
                    <a:pt x="9709" y="2129"/>
                    <a:pt x="14849" y="0"/>
                    <a:pt x="20208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522494" cy="198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125"/>
            <a:ext cx="984821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606293" y="1063074"/>
            <a:ext cx="708951" cy="70895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64388" y="557825"/>
            <a:ext cx="388849" cy="3888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28712" y="1932454"/>
            <a:ext cx="9110901" cy="732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Logistics organizations face several interconnected business problems:</a:t>
            </a:r>
          </a:p>
          <a:p>
            <a:pPr algn="l">
              <a:lnSpc>
                <a:spcPts val="2668"/>
              </a:lnSpc>
            </a:pPr>
            <a:endParaRPr lang="en-US" sz="2300" b="1" spc="170">
              <a:solidFill>
                <a:srgbClr val="282A2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Inefficient truck space usage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Poor loading decisions increase fuel costs and the number of trips required.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Fragile package damage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Fragile items may be stacked improperly without visibility into load structure.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Limited package visibility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Managers and employees often lack real-time clarity on package status (warehouse, loaded, delivered).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Disconnected systems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Routing, loading, and tracking are frequently handled in separate tools.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complexity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Large datasets make it difficult to manually assess utilization, routes, and delivery readiness.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538501" y="5899620"/>
            <a:ext cx="3720799" cy="3389310"/>
          </a:xfrm>
          <a:custGeom>
            <a:avLst/>
            <a:gdLst/>
            <a:ahLst/>
            <a:cxnLst/>
            <a:rect l="l" t="t" r="r" b="b"/>
            <a:pathLst>
              <a:path w="3720799" h="3389310">
                <a:moveTo>
                  <a:pt x="0" y="0"/>
                </a:moveTo>
                <a:lnTo>
                  <a:pt x="3720799" y="0"/>
                </a:lnTo>
                <a:lnTo>
                  <a:pt x="3720799" y="3389309"/>
                </a:lnTo>
                <a:lnTo>
                  <a:pt x="0" y="3389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78239" y="5826881"/>
            <a:ext cx="1872258" cy="1463765"/>
          </a:xfrm>
          <a:custGeom>
            <a:avLst/>
            <a:gdLst/>
            <a:ahLst/>
            <a:cxnLst/>
            <a:rect l="l" t="t" r="r" b="b"/>
            <a:pathLst>
              <a:path w="1872258" h="1463765">
                <a:moveTo>
                  <a:pt x="0" y="0"/>
                </a:moveTo>
                <a:lnTo>
                  <a:pt x="1872258" y="0"/>
                </a:lnTo>
                <a:lnTo>
                  <a:pt x="1872258" y="1463766"/>
                </a:lnTo>
                <a:lnTo>
                  <a:pt x="0" y="14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046561"/>
            <a:ext cx="13183990" cy="1384360"/>
            <a:chOff x="0" y="0"/>
            <a:chExt cx="3472327" cy="3646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72327" cy="364605"/>
            </a:xfrm>
            <a:custGeom>
              <a:avLst/>
              <a:gdLst/>
              <a:ahLst/>
              <a:cxnLst/>
              <a:rect l="l" t="t" r="r" b="b"/>
              <a:pathLst>
                <a:path w="3472327" h="364605">
                  <a:moveTo>
                    <a:pt x="14681" y="0"/>
                  </a:moveTo>
                  <a:lnTo>
                    <a:pt x="3457646" y="0"/>
                  </a:lnTo>
                  <a:cubicBezTo>
                    <a:pt x="3465754" y="0"/>
                    <a:pt x="3472327" y="6573"/>
                    <a:pt x="3472327" y="14681"/>
                  </a:cubicBezTo>
                  <a:lnTo>
                    <a:pt x="3472327" y="349925"/>
                  </a:lnTo>
                  <a:cubicBezTo>
                    <a:pt x="3472327" y="358032"/>
                    <a:pt x="3465754" y="364605"/>
                    <a:pt x="3457646" y="364605"/>
                  </a:cubicBezTo>
                  <a:lnTo>
                    <a:pt x="14681" y="364605"/>
                  </a:lnTo>
                  <a:cubicBezTo>
                    <a:pt x="6573" y="364605"/>
                    <a:pt x="0" y="358032"/>
                    <a:pt x="0" y="349925"/>
                  </a:cubicBezTo>
                  <a:lnTo>
                    <a:pt x="0" y="14681"/>
                  </a:lnTo>
                  <a:cubicBezTo>
                    <a:pt x="0" y="6573"/>
                    <a:pt x="6573" y="0"/>
                    <a:pt x="14681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3472327" cy="326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8483" y="3926221"/>
            <a:ext cx="13183990" cy="1551456"/>
            <a:chOff x="0" y="0"/>
            <a:chExt cx="3472327" cy="4086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72327" cy="408614"/>
            </a:xfrm>
            <a:custGeom>
              <a:avLst/>
              <a:gdLst/>
              <a:ahLst/>
              <a:cxnLst/>
              <a:rect l="l" t="t" r="r" b="b"/>
              <a:pathLst>
                <a:path w="3472327" h="408614">
                  <a:moveTo>
                    <a:pt x="14681" y="0"/>
                  </a:moveTo>
                  <a:lnTo>
                    <a:pt x="3457646" y="0"/>
                  </a:lnTo>
                  <a:cubicBezTo>
                    <a:pt x="3465754" y="0"/>
                    <a:pt x="3472327" y="6573"/>
                    <a:pt x="3472327" y="14681"/>
                  </a:cubicBezTo>
                  <a:lnTo>
                    <a:pt x="3472327" y="393933"/>
                  </a:lnTo>
                  <a:cubicBezTo>
                    <a:pt x="3472327" y="402041"/>
                    <a:pt x="3465754" y="408614"/>
                    <a:pt x="3457646" y="408614"/>
                  </a:cubicBezTo>
                  <a:lnTo>
                    <a:pt x="14681" y="408614"/>
                  </a:lnTo>
                  <a:cubicBezTo>
                    <a:pt x="6573" y="408614"/>
                    <a:pt x="0" y="402041"/>
                    <a:pt x="0" y="393933"/>
                  </a:cubicBezTo>
                  <a:lnTo>
                    <a:pt x="0" y="14681"/>
                  </a:lnTo>
                  <a:cubicBezTo>
                    <a:pt x="0" y="6573"/>
                    <a:pt x="6573" y="0"/>
                    <a:pt x="14681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3472327" cy="370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2450" y="5972976"/>
            <a:ext cx="13173773" cy="1317670"/>
            <a:chOff x="0" y="0"/>
            <a:chExt cx="3469636" cy="3470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69636" cy="347041"/>
            </a:xfrm>
            <a:custGeom>
              <a:avLst/>
              <a:gdLst/>
              <a:ahLst/>
              <a:cxnLst/>
              <a:rect l="l" t="t" r="r" b="b"/>
              <a:pathLst>
                <a:path w="3469636" h="347041">
                  <a:moveTo>
                    <a:pt x="14692" y="0"/>
                  </a:moveTo>
                  <a:lnTo>
                    <a:pt x="3454944" y="0"/>
                  </a:lnTo>
                  <a:cubicBezTo>
                    <a:pt x="3463058" y="0"/>
                    <a:pt x="3469636" y="6578"/>
                    <a:pt x="3469636" y="14692"/>
                  </a:cubicBezTo>
                  <a:lnTo>
                    <a:pt x="3469636" y="332349"/>
                  </a:lnTo>
                  <a:cubicBezTo>
                    <a:pt x="3469636" y="336245"/>
                    <a:pt x="3468088" y="339982"/>
                    <a:pt x="3465333" y="342738"/>
                  </a:cubicBezTo>
                  <a:cubicBezTo>
                    <a:pt x="3462577" y="345493"/>
                    <a:pt x="3458840" y="347041"/>
                    <a:pt x="3454944" y="347041"/>
                  </a:cubicBezTo>
                  <a:lnTo>
                    <a:pt x="14692" y="347041"/>
                  </a:lnTo>
                  <a:cubicBezTo>
                    <a:pt x="10795" y="347041"/>
                    <a:pt x="7058" y="345493"/>
                    <a:pt x="4303" y="342738"/>
                  </a:cubicBezTo>
                  <a:cubicBezTo>
                    <a:pt x="1548" y="339982"/>
                    <a:pt x="0" y="336245"/>
                    <a:pt x="0" y="332349"/>
                  </a:cubicBezTo>
                  <a:lnTo>
                    <a:pt x="0" y="14692"/>
                  </a:lnTo>
                  <a:cubicBezTo>
                    <a:pt x="0" y="10795"/>
                    <a:pt x="1548" y="7058"/>
                    <a:pt x="4303" y="4303"/>
                  </a:cubicBezTo>
                  <a:cubicBezTo>
                    <a:pt x="7058" y="1548"/>
                    <a:pt x="10795" y="0"/>
                    <a:pt x="14692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3469636" cy="308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4384524" y="3560702"/>
            <a:ext cx="3165973" cy="2970258"/>
          </a:xfrm>
          <a:custGeom>
            <a:avLst/>
            <a:gdLst/>
            <a:ahLst/>
            <a:cxnLst/>
            <a:rect l="l" t="t" r="r" b="b"/>
            <a:pathLst>
              <a:path w="3165973" h="2970258">
                <a:moveTo>
                  <a:pt x="3165973" y="0"/>
                </a:moveTo>
                <a:lnTo>
                  <a:pt x="0" y="0"/>
                </a:lnTo>
                <a:lnTo>
                  <a:pt x="0" y="2970258"/>
                </a:lnTo>
                <a:lnTo>
                  <a:pt x="3165973" y="2970258"/>
                </a:lnTo>
                <a:lnTo>
                  <a:pt x="31659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171575"/>
            <a:ext cx="6777895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201" y="2153770"/>
            <a:ext cx="13005022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9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This project addresses operational inefficiencies in last-mile logistics, including underutilized truck capacity, unclear package visibility, and non-transparent delivery routing.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0984" y="4101473"/>
            <a:ext cx="9585475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91" dirty="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 prototype system was developed to model deliveries using structured warehouse data, 3D truck load visualization, and route mapping.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4950" y="6144426"/>
            <a:ext cx="1307148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9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The solution enables managers and dispatchers to monitor package states, loading efficiency, and routing decisions without direct database or code access.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359695" y="512997"/>
            <a:ext cx="541249" cy="54124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279872" y="242373"/>
            <a:ext cx="541249" cy="54124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998879" y="1265654"/>
            <a:ext cx="388849" cy="38884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355024" y="5972976"/>
            <a:ext cx="518688" cy="585788"/>
          </a:xfrm>
          <a:custGeom>
            <a:avLst/>
            <a:gdLst/>
            <a:ahLst/>
            <a:cxnLst/>
            <a:rect l="l" t="t" r="r" b="b"/>
            <a:pathLst>
              <a:path w="518688" h="585788">
                <a:moveTo>
                  <a:pt x="0" y="0"/>
                </a:moveTo>
                <a:lnTo>
                  <a:pt x="518688" y="0"/>
                </a:lnTo>
                <a:lnTo>
                  <a:pt x="518688" y="585788"/>
                </a:lnTo>
                <a:lnTo>
                  <a:pt x="0" y="585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18483" y="7785947"/>
            <a:ext cx="13173773" cy="1152021"/>
            <a:chOff x="0" y="0"/>
            <a:chExt cx="3469636" cy="3034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69636" cy="303413"/>
            </a:xfrm>
            <a:custGeom>
              <a:avLst/>
              <a:gdLst/>
              <a:ahLst/>
              <a:cxnLst/>
              <a:rect l="l" t="t" r="r" b="b"/>
              <a:pathLst>
                <a:path w="3469636" h="303413">
                  <a:moveTo>
                    <a:pt x="14692" y="0"/>
                  </a:moveTo>
                  <a:lnTo>
                    <a:pt x="3454944" y="0"/>
                  </a:lnTo>
                  <a:cubicBezTo>
                    <a:pt x="3463058" y="0"/>
                    <a:pt x="3469636" y="6578"/>
                    <a:pt x="3469636" y="14692"/>
                  </a:cubicBezTo>
                  <a:lnTo>
                    <a:pt x="3469636" y="288721"/>
                  </a:lnTo>
                  <a:cubicBezTo>
                    <a:pt x="3469636" y="292618"/>
                    <a:pt x="3468088" y="296355"/>
                    <a:pt x="3465333" y="299110"/>
                  </a:cubicBezTo>
                  <a:cubicBezTo>
                    <a:pt x="3462577" y="301865"/>
                    <a:pt x="3458840" y="303413"/>
                    <a:pt x="3454944" y="303413"/>
                  </a:cubicBezTo>
                  <a:lnTo>
                    <a:pt x="14692" y="303413"/>
                  </a:lnTo>
                  <a:cubicBezTo>
                    <a:pt x="10795" y="303413"/>
                    <a:pt x="7058" y="301865"/>
                    <a:pt x="4303" y="299110"/>
                  </a:cubicBezTo>
                  <a:cubicBezTo>
                    <a:pt x="1548" y="296355"/>
                    <a:pt x="0" y="292618"/>
                    <a:pt x="0" y="288721"/>
                  </a:cubicBezTo>
                  <a:lnTo>
                    <a:pt x="0" y="14692"/>
                  </a:lnTo>
                  <a:cubicBezTo>
                    <a:pt x="0" y="10795"/>
                    <a:pt x="1548" y="7058"/>
                    <a:pt x="4303" y="4303"/>
                  </a:cubicBezTo>
                  <a:cubicBezTo>
                    <a:pt x="7058" y="1548"/>
                    <a:pt x="10795" y="0"/>
                    <a:pt x="14692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8100"/>
              <a:ext cx="3469636" cy="265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30984" y="7957397"/>
            <a:ext cx="1307148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9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The system demonstrates improved decision support, transparency, and extensibility for future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74837"/>
            <a:ext cx="10102852" cy="7283463"/>
            <a:chOff x="0" y="0"/>
            <a:chExt cx="2660834" cy="19182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0834" cy="1918278"/>
            </a:xfrm>
            <a:custGeom>
              <a:avLst/>
              <a:gdLst/>
              <a:ahLst/>
              <a:cxnLst/>
              <a:rect l="l" t="t" r="r" b="b"/>
              <a:pathLst>
                <a:path w="2660834" h="1918278">
                  <a:moveTo>
                    <a:pt x="19158" y="0"/>
                  </a:moveTo>
                  <a:lnTo>
                    <a:pt x="2641676" y="0"/>
                  </a:lnTo>
                  <a:cubicBezTo>
                    <a:pt x="2652256" y="0"/>
                    <a:pt x="2660834" y="8577"/>
                    <a:pt x="2660834" y="19158"/>
                  </a:cubicBezTo>
                  <a:lnTo>
                    <a:pt x="2660834" y="1899121"/>
                  </a:lnTo>
                  <a:cubicBezTo>
                    <a:pt x="2660834" y="1904202"/>
                    <a:pt x="2658815" y="1909075"/>
                    <a:pt x="2655222" y="1912667"/>
                  </a:cubicBezTo>
                  <a:cubicBezTo>
                    <a:pt x="2651630" y="1916260"/>
                    <a:pt x="2646757" y="1918278"/>
                    <a:pt x="2641676" y="1918278"/>
                  </a:cubicBezTo>
                  <a:lnTo>
                    <a:pt x="19158" y="1918278"/>
                  </a:lnTo>
                  <a:cubicBezTo>
                    <a:pt x="14077" y="1918278"/>
                    <a:pt x="9204" y="1916260"/>
                    <a:pt x="5611" y="1912667"/>
                  </a:cubicBezTo>
                  <a:cubicBezTo>
                    <a:pt x="2018" y="1909075"/>
                    <a:pt x="0" y="1904202"/>
                    <a:pt x="0" y="1899121"/>
                  </a:cubicBezTo>
                  <a:lnTo>
                    <a:pt x="0" y="19158"/>
                  </a:lnTo>
                  <a:cubicBezTo>
                    <a:pt x="0" y="14077"/>
                    <a:pt x="2018" y="9204"/>
                    <a:pt x="5611" y="5611"/>
                  </a:cubicBezTo>
                  <a:cubicBezTo>
                    <a:pt x="9204" y="2018"/>
                    <a:pt x="14077" y="0"/>
                    <a:pt x="19158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660834" cy="1880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7451" y="487451"/>
            <a:ext cx="541249" cy="5412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7003" y="9258300"/>
            <a:ext cx="388849" cy="38884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70451" y="8869451"/>
            <a:ext cx="388849" cy="3888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718051" y="5674897"/>
            <a:ext cx="1209937" cy="1227796"/>
          </a:xfrm>
          <a:custGeom>
            <a:avLst/>
            <a:gdLst/>
            <a:ahLst/>
            <a:cxnLst/>
            <a:rect l="l" t="t" r="r" b="b"/>
            <a:pathLst>
              <a:path w="1209937" h="1227796">
                <a:moveTo>
                  <a:pt x="0" y="0"/>
                </a:moveTo>
                <a:lnTo>
                  <a:pt x="1209937" y="0"/>
                </a:lnTo>
                <a:lnTo>
                  <a:pt x="1209937" y="1227796"/>
                </a:lnTo>
                <a:lnTo>
                  <a:pt x="0" y="122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458640" y="6420647"/>
            <a:ext cx="2469348" cy="2159557"/>
          </a:xfrm>
          <a:custGeom>
            <a:avLst/>
            <a:gdLst/>
            <a:ahLst/>
            <a:cxnLst/>
            <a:rect l="l" t="t" r="r" b="b"/>
            <a:pathLst>
              <a:path w="2469348" h="2159557">
                <a:moveTo>
                  <a:pt x="0" y="0"/>
                </a:moveTo>
                <a:lnTo>
                  <a:pt x="2469348" y="0"/>
                </a:lnTo>
                <a:lnTo>
                  <a:pt x="2469348" y="2159557"/>
                </a:lnTo>
                <a:lnTo>
                  <a:pt x="0" y="2159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28590" y="2136509"/>
            <a:ext cx="9903073" cy="731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The solution is guided by industry practices and stakeholder perspectives, including:</a:t>
            </a:r>
          </a:p>
          <a:p>
            <a:pPr algn="l">
              <a:lnSpc>
                <a:spcPts val="4147"/>
              </a:lnSpc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Primary Users: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Warehouse Managers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Dispatch Planners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Operations Analysts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Delivery Supervisors</a:t>
            </a:r>
          </a:p>
          <a:p>
            <a:pPr algn="l">
              <a:lnSpc>
                <a:spcPts val="4147"/>
              </a:lnSpc>
            </a:pPr>
            <a:endParaRPr lang="en-US" sz="2900" spc="-101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147"/>
              </a:lnSpc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How They Benefit: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Managers see utilization and efficiency KPIs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Dispatchers understand route and stop structure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Warehouse staff load trucks with fewer errors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spc="-10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Supervisors track package status clearly</a:t>
            </a:r>
          </a:p>
          <a:p>
            <a:pPr algn="l">
              <a:lnSpc>
                <a:spcPts val="4147"/>
              </a:lnSpc>
            </a:pPr>
            <a:endParaRPr lang="en-US" sz="2900" spc="-101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1171575"/>
            <a:ext cx="811530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Organizational Stakeholders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365385" y="7083103"/>
            <a:ext cx="1541958" cy="1497101"/>
          </a:xfrm>
          <a:custGeom>
            <a:avLst/>
            <a:gdLst/>
            <a:ahLst/>
            <a:cxnLst/>
            <a:rect l="l" t="t" r="r" b="b"/>
            <a:pathLst>
              <a:path w="1541958" h="1497101">
                <a:moveTo>
                  <a:pt x="0" y="0"/>
                </a:moveTo>
                <a:lnTo>
                  <a:pt x="1541958" y="0"/>
                </a:lnTo>
                <a:lnTo>
                  <a:pt x="1541958" y="1497101"/>
                </a:lnTo>
                <a:lnTo>
                  <a:pt x="0" y="1497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131552" y="2720225"/>
            <a:ext cx="5975348" cy="4725957"/>
          </a:xfrm>
          <a:custGeom>
            <a:avLst/>
            <a:gdLst/>
            <a:ahLst/>
            <a:cxnLst/>
            <a:rect l="l" t="t" r="r" b="b"/>
            <a:pathLst>
              <a:path w="5975348" h="4725957">
                <a:moveTo>
                  <a:pt x="0" y="0"/>
                </a:moveTo>
                <a:lnTo>
                  <a:pt x="5975348" y="0"/>
                </a:lnTo>
                <a:lnTo>
                  <a:pt x="5975348" y="4725957"/>
                </a:lnTo>
                <a:lnTo>
                  <a:pt x="0" y="4725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059515" y="7665074"/>
            <a:ext cx="1305870" cy="1260758"/>
          </a:xfrm>
          <a:custGeom>
            <a:avLst/>
            <a:gdLst/>
            <a:ahLst/>
            <a:cxnLst/>
            <a:rect l="l" t="t" r="r" b="b"/>
            <a:pathLst>
              <a:path w="1305870" h="1260758">
                <a:moveTo>
                  <a:pt x="0" y="0"/>
                </a:moveTo>
                <a:lnTo>
                  <a:pt x="1305870" y="0"/>
                </a:lnTo>
                <a:lnTo>
                  <a:pt x="1305870" y="1260758"/>
                </a:lnTo>
                <a:lnTo>
                  <a:pt x="0" y="1260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859882" y="8478088"/>
            <a:ext cx="518688" cy="585788"/>
          </a:xfrm>
          <a:custGeom>
            <a:avLst/>
            <a:gdLst/>
            <a:ahLst/>
            <a:cxnLst/>
            <a:rect l="l" t="t" r="r" b="b"/>
            <a:pathLst>
              <a:path w="518688" h="585788">
                <a:moveTo>
                  <a:pt x="0" y="0"/>
                </a:moveTo>
                <a:lnTo>
                  <a:pt x="518688" y="0"/>
                </a:lnTo>
                <a:lnTo>
                  <a:pt x="518688" y="585787"/>
                </a:lnTo>
                <a:lnTo>
                  <a:pt x="0" y="585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23638"/>
            <a:ext cx="12334665" cy="7943447"/>
            <a:chOff x="0" y="0"/>
            <a:chExt cx="3248636" cy="2092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8636" cy="2092101"/>
            </a:xfrm>
            <a:custGeom>
              <a:avLst/>
              <a:gdLst/>
              <a:ahLst/>
              <a:cxnLst/>
              <a:rect l="l" t="t" r="r" b="b"/>
              <a:pathLst>
                <a:path w="3248636" h="2092101">
                  <a:moveTo>
                    <a:pt x="15691" y="0"/>
                  </a:moveTo>
                  <a:lnTo>
                    <a:pt x="3232945" y="0"/>
                  </a:lnTo>
                  <a:cubicBezTo>
                    <a:pt x="3237106" y="0"/>
                    <a:pt x="3241097" y="1653"/>
                    <a:pt x="3244040" y="4596"/>
                  </a:cubicBezTo>
                  <a:cubicBezTo>
                    <a:pt x="3246983" y="7539"/>
                    <a:pt x="3248636" y="11530"/>
                    <a:pt x="3248636" y="15691"/>
                  </a:cubicBezTo>
                  <a:lnTo>
                    <a:pt x="3248636" y="2076410"/>
                  </a:lnTo>
                  <a:cubicBezTo>
                    <a:pt x="3248636" y="2080572"/>
                    <a:pt x="3246983" y="2084563"/>
                    <a:pt x="3244040" y="2087506"/>
                  </a:cubicBezTo>
                  <a:cubicBezTo>
                    <a:pt x="3241097" y="2090448"/>
                    <a:pt x="3237106" y="2092101"/>
                    <a:pt x="3232945" y="2092101"/>
                  </a:cubicBezTo>
                  <a:lnTo>
                    <a:pt x="15691" y="2092101"/>
                  </a:lnTo>
                  <a:cubicBezTo>
                    <a:pt x="11530" y="2092101"/>
                    <a:pt x="7539" y="2090448"/>
                    <a:pt x="4596" y="2087506"/>
                  </a:cubicBezTo>
                  <a:cubicBezTo>
                    <a:pt x="1653" y="2084563"/>
                    <a:pt x="0" y="2080572"/>
                    <a:pt x="0" y="2076410"/>
                  </a:cubicBezTo>
                  <a:lnTo>
                    <a:pt x="0" y="15691"/>
                  </a:lnTo>
                  <a:cubicBezTo>
                    <a:pt x="0" y="11530"/>
                    <a:pt x="1653" y="7539"/>
                    <a:pt x="4596" y="4596"/>
                  </a:cubicBezTo>
                  <a:cubicBezTo>
                    <a:pt x="7539" y="1653"/>
                    <a:pt x="11530" y="0"/>
                    <a:pt x="15691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3248636" cy="2054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125"/>
            <a:ext cx="984821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Capabilities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008889" y="902130"/>
            <a:ext cx="708951" cy="70895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66984" y="396882"/>
            <a:ext cx="388849" cy="3888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28712" y="1932454"/>
            <a:ext cx="11680177" cy="732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The system is expected to support the following key capabilities: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Truck Loading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Determines package placement based on dimensions, weight, and fragility.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Truck Utilization Analysis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Calculates weight and volume utilization for each dispatch.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Package Lifecycle Tracking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Tracks packages from creation through delivery.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Route Planning &amp; Visualization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Displays delivery stops and sequences using geographic coordinates.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3D Load Visualization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Shows how packages are physically arranged inside the truck.</a:t>
            </a:r>
          </a:p>
          <a:p>
            <a:pPr algn="l">
              <a:lnSpc>
                <a:spcPts val="2668"/>
              </a:lnSpc>
            </a:pPr>
            <a:endParaRPr lang="en-US" sz="2300" spc="170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68"/>
              </a:lnSpc>
            </a:pPr>
            <a:r>
              <a:rPr lang="en-US" sz="2300" b="1" spc="170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Manager-Friendly Frontend</a:t>
            </a:r>
          </a:p>
          <a:p>
            <a:pPr marL="496571" lvl="1" indent="-248285" algn="l">
              <a:lnSpc>
                <a:spcPts val="2668"/>
              </a:lnSpc>
              <a:buFont typeface="Arial"/>
              <a:buChar char="•"/>
            </a:pPr>
            <a:r>
              <a:rPr lang="en-US" sz="2300" spc="17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Allows non-technical users to explore operations without accessing code or databases.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538501" y="5899620"/>
            <a:ext cx="3720799" cy="3389310"/>
          </a:xfrm>
          <a:custGeom>
            <a:avLst/>
            <a:gdLst/>
            <a:ahLst/>
            <a:cxnLst/>
            <a:rect l="l" t="t" r="r" b="b"/>
            <a:pathLst>
              <a:path w="3720799" h="3389310">
                <a:moveTo>
                  <a:pt x="0" y="0"/>
                </a:moveTo>
                <a:lnTo>
                  <a:pt x="3720799" y="0"/>
                </a:lnTo>
                <a:lnTo>
                  <a:pt x="3720799" y="3389309"/>
                </a:lnTo>
                <a:lnTo>
                  <a:pt x="0" y="3389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1862" y="1299325"/>
            <a:ext cx="3858760" cy="2777157"/>
            <a:chOff x="0" y="0"/>
            <a:chExt cx="1016299" cy="7314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6299" cy="731432"/>
            </a:xfrm>
            <a:custGeom>
              <a:avLst/>
              <a:gdLst/>
              <a:ahLst/>
              <a:cxnLst/>
              <a:rect l="l" t="t" r="r" b="b"/>
              <a:pathLst>
                <a:path w="1016299" h="731432">
                  <a:moveTo>
                    <a:pt x="50158" y="0"/>
                  </a:moveTo>
                  <a:lnTo>
                    <a:pt x="966141" y="0"/>
                  </a:lnTo>
                  <a:cubicBezTo>
                    <a:pt x="993842" y="0"/>
                    <a:pt x="1016299" y="22457"/>
                    <a:pt x="1016299" y="50158"/>
                  </a:cubicBezTo>
                  <a:lnTo>
                    <a:pt x="1016299" y="681274"/>
                  </a:lnTo>
                  <a:cubicBezTo>
                    <a:pt x="1016299" y="694577"/>
                    <a:pt x="1011014" y="707335"/>
                    <a:pt x="1001608" y="716741"/>
                  </a:cubicBezTo>
                  <a:cubicBezTo>
                    <a:pt x="992201" y="726148"/>
                    <a:pt x="979444" y="731432"/>
                    <a:pt x="966141" y="731432"/>
                  </a:cubicBezTo>
                  <a:lnTo>
                    <a:pt x="50158" y="731432"/>
                  </a:lnTo>
                  <a:cubicBezTo>
                    <a:pt x="22457" y="731432"/>
                    <a:pt x="0" y="708976"/>
                    <a:pt x="0" y="681274"/>
                  </a:cubicBezTo>
                  <a:lnTo>
                    <a:pt x="0" y="50158"/>
                  </a:lnTo>
                  <a:cubicBezTo>
                    <a:pt x="0" y="22457"/>
                    <a:pt x="22457" y="0"/>
                    <a:pt x="50158" y="0"/>
                  </a:cubicBezTo>
                  <a:close/>
                </a:path>
              </a:pathLst>
            </a:custGeom>
            <a:solidFill>
              <a:srgbClr val="ECE3C0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016299" cy="69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03202" y="1299325"/>
            <a:ext cx="3858760" cy="2777157"/>
            <a:chOff x="0" y="0"/>
            <a:chExt cx="1016299" cy="731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299" cy="731432"/>
            </a:xfrm>
            <a:custGeom>
              <a:avLst/>
              <a:gdLst/>
              <a:ahLst/>
              <a:cxnLst/>
              <a:rect l="l" t="t" r="r" b="b"/>
              <a:pathLst>
                <a:path w="1016299" h="731432">
                  <a:moveTo>
                    <a:pt x="50158" y="0"/>
                  </a:moveTo>
                  <a:lnTo>
                    <a:pt x="966141" y="0"/>
                  </a:lnTo>
                  <a:cubicBezTo>
                    <a:pt x="993842" y="0"/>
                    <a:pt x="1016299" y="22457"/>
                    <a:pt x="1016299" y="50158"/>
                  </a:cubicBezTo>
                  <a:lnTo>
                    <a:pt x="1016299" y="681274"/>
                  </a:lnTo>
                  <a:cubicBezTo>
                    <a:pt x="1016299" y="694577"/>
                    <a:pt x="1011014" y="707335"/>
                    <a:pt x="1001608" y="716741"/>
                  </a:cubicBezTo>
                  <a:cubicBezTo>
                    <a:pt x="992201" y="726148"/>
                    <a:pt x="979444" y="731432"/>
                    <a:pt x="966141" y="731432"/>
                  </a:cubicBezTo>
                  <a:lnTo>
                    <a:pt x="50158" y="731432"/>
                  </a:lnTo>
                  <a:cubicBezTo>
                    <a:pt x="22457" y="731432"/>
                    <a:pt x="0" y="708976"/>
                    <a:pt x="0" y="681274"/>
                  </a:cubicBezTo>
                  <a:lnTo>
                    <a:pt x="0" y="50158"/>
                  </a:lnTo>
                  <a:cubicBezTo>
                    <a:pt x="0" y="22457"/>
                    <a:pt x="22457" y="0"/>
                    <a:pt x="50158" y="0"/>
                  </a:cubicBezTo>
                  <a:close/>
                </a:path>
              </a:pathLst>
            </a:custGeom>
            <a:solidFill>
              <a:srgbClr val="ECE3C0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016299" cy="69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28662" y="1299325"/>
            <a:ext cx="3858760" cy="2777157"/>
            <a:chOff x="0" y="0"/>
            <a:chExt cx="1016299" cy="7314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6299" cy="731432"/>
            </a:xfrm>
            <a:custGeom>
              <a:avLst/>
              <a:gdLst/>
              <a:ahLst/>
              <a:cxnLst/>
              <a:rect l="l" t="t" r="r" b="b"/>
              <a:pathLst>
                <a:path w="1016299" h="731432">
                  <a:moveTo>
                    <a:pt x="50158" y="0"/>
                  </a:moveTo>
                  <a:lnTo>
                    <a:pt x="966141" y="0"/>
                  </a:lnTo>
                  <a:cubicBezTo>
                    <a:pt x="993842" y="0"/>
                    <a:pt x="1016299" y="22457"/>
                    <a:pt x="1016299" y="50158"/>
                  </a:cubicBezTo>
                  <a:lnTo>
                    <a:pt x="1016299" y="681274"/>
                  </a:lnTo>
                  <a:cubicBezTo>
                    <a:pt x="1016299" y="694577"/>
                    <a:pt x="1011014" y="707335"/>
                    <a:pt x="1001608" y="716741"/>
                  </a:cubicBezTo>
                  <a:cubicBezTo>
                    <a:pt x="992201" y="726148"/>
                    <a:pt x="979444" y="731432"/>
                    <a:pt x="966141" y="731432"/>
                  </a:cubicBezTo>
                  <a:lnTo>
                    <a:pt x="50158" y="731432"/>
                  </a:lnTo>
                  <a:cubicBezTo>
                    <a:pt x="22457" y="731432"/>
                    <a:pt x="0" y="708976"/>
                    <a:pt x="0" y="681274"/>
                  </a:cubicBezTo>
                  <a:lnTo>
                    <a:pt x="0" y="50158"/>
                  </a:lnTo>
                  <a:cubicBezTo>
                    <a:pt x="0" y="22457"/>
                    <a:pt x="22457" y="0"/>
                    <a:pt x="50158" y="0"/>
                  </a:cubicBezTo>
                  <a:close/>
                </a:path>
              </a:pathLst>
            </a:custGeom>
            <a:solidFill>
              <a:srgbClr val="ECE3C0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8100"/>
              <a:ext cx="1016299" cy="69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278586" y="6620192"/>
            <a:ext cx="3105610" cy="3015265"/>
          </a:xfrm>
          <a:custGeom>
            <a:avLst/>
            <a:gdLst/>
            <a:ahLst/>
            <a:cxnLst/>
            <a:rect l="l" t="t" r="r" b="b"/>
            <a:pathLst>
              <a:path w="3105610" h="3015265">
                <a:moveTo>
                  <a:pt x="0" y="0"/>
                </a:moveTo>
                <a:lnTo>
                  <a:pt x="3105609" y="0"/>
                </a:lnTo>
                <a:lnTo>
                  <a:pt x="3105609" y="3015264"/>
                </a:lnTo>
                <a:lnTo>
                  <a:pt x="0" y="3015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680562" y="415925"/>
            <a:ext cx="730816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Benefits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37982" y="1571267"/>
            <a:ext cx="294652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 </a:t>
            </a:r>
          </a:p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61276" y="2466617"/>
            <a:ext cx="3499931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Improved truck utilization reduces fuel and transportation costs.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79529" y="7797737"/>
            <a:ext cx="541249" cy="54124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14351" y="1028700"/>
            <a:ext cx="541249" cy="5412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7603" y="8451038"/>
            <a:ext cx="388849" cy="38884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flipH="1">
            <a:off x="15049286" y="5567570"/>
            <a:ext cx="2210014" cy="3617583"/>
          </a:xfrm>
          <a:custGeom>
            <a:avLst/>
            <a:gdLst/>
            <a:ahLst/>
            <a:cxnLst/>
            <a:rect l="l" t="t" r="r" b="b"/>
            <a:pathLst>
              <a:path w="2210014" h="3617583">
                <a:moveTo>
                  <a:pt x="2210014" y="0"/>
                </a:moveTo>
                <a:lnTo>
                  <a:pt x="0" y="0"/>
                </a:lnTo>
                <a:lnTo>
                  <a:pt x="0" y="3617583"/>
                </a:lnTo>
                <a:lnTo>
                  <a:pt x="2210014" y="3617583"/>
                </a:lnTo>
                <a:lnTo>
                  <a:pt x="22100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559973" y="7036636"/>
            <a:ext cx="2022195" cy="2604701"/>
          </a:xfrm>
          <a:custGeom>
            <a:avLst/>
            <a:gdLst/>
            <a:ahLst/>
            <a:cxnLst/>
            <a:rect l="l" t="t" r="r" b="b"/>
            <a:pathLst>
              <a:path w="2022195" h="2604701">
                <a:moveTo>
                  <a:pt x="0" y="0"/>
                </a:moveTo>
                <a:lnTo>
                  <a:pt x="2022196" y="0"/>
                </a:lnTo>
                <a:lnTo>
                  <a:pt x="2022196" y="2604701"/>
                </a:lnTo>
                <a:lnTo>
                  <a:pt x="0" y="2604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605803" y="7797737"/>
            <a:ext cx="2528571" cy="2271117"/>
          </a:xfrm>
          <a:custGeom>
            <a:avLst/>
            <a:gdLst/>
            <a:ahLst/>
            <a:cxnLst/>
            <a:rect l="l" t="t" r="r" b="b"/>
            <a:pathLst>
              <a:path w="2528571" h="2271117">
                <a:moveTo>
                  <a:pt x="0" y="0"/>
                </a:moveTo>
                <a:lnTo>
                  <a:pt x="2528572" y="0"/>
                </a:lnTo>
                <a:lnTo>
                  <a:pt x="2528572" y="2271117"/>
                </a:lnTo>
                <a:lnTo>
                  <a:pt x="0" y="2271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083349" y="7879337"/>
            <a:ext cx="1234296" cy="1393969"/>
          </a:xfrm>
          <a:custGeom>
            <a:avLst/>
            <a:gdLst/>
            <a:ahLst/>
            <a:cxnLst/>
            <a:rect l="l" t="t" r="r" b="b"/>
            <a:pathLst>
              <a:path w="1234296" h="1393969">
                <a:moveTo>
                  <a:pt x="0" y="0"/>
                </a:moveTo>
                <a:lnTo>
                  <a:pt x="1234295" y="0"/>
                </a:lnTo>
                <a:lnTo>
                  <a:pt x="1234295" y="1393969"/>
                </a:lnTo>
                <a:lnTo>
                  <a:pt x="0" y="1393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2678140" y="7327174"/>
            <a:ext cx="1048749" cy="1184419"/>
          </a:xfrm>
          <a:custGeom>
            <a:avLst/>
            <a:gdLst/>
            <a:ahLst/>
            <a:cxnLst/>
            <a:rect l="l" t="t" r="r" b="b"/>
            <a:pathLst>
              <a:path w="1048749" h="1184419">
                <a:moveTo>
                  <a:pt x="0" y="0"/>
                </a:moveTo>
                <a:lnTo>
                  <a:pt x="1048749" y="0"/>
                </a:lnTo>
                <a:lnTo>
                  <a:pt x="1048749" y="1184418"/>
                </a:lnTo>
                <a:lnTo>
                  <a:pt x="0" y="11844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3223784" y="7967779"/>
            <a:ext cx="963045" cy="1087627"/>
          </a:xfrm>
          <a:custGeom>
            <a:avLst/>
            <a:gdLst/>
            <a:ahLst/>
            <a:cxnLst/>
            <a:rect l="l" t="t" r="r" b="b"/>
            <a:pathLst>
              <a:path w="963045" h="1087627">
                <a:moveTo>
                  <a:pt x="0" y="0"/>
                </a:moveTo>
                <a:lnTo>
                  <a:pt x="963044" y="0"/>
                </a:lnTo>
                <a:lnTo>
                  <a:pt x="963044" y="1087627"/>
                </a:lnTo>
                <a:lnTo>
                  <a:pt x="0" y="1087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2175035" y="7967779"/>
            <a:ext cx="1048749" cy="1184419"/>
          </a:xfrm>
          <a:custGeom>
            <a:avLst/>
            <a:gdLst/>
            <a:ahLst/>
            <a:cxnLst/>
            <a:rect l="l" t="t" r="r" b="b"/>
            <a:pathLst>
              <a:path w="1048749" h="1184419">
                <a:moveTo>
                  <a:pt x="0" y="0"/>
                </a:moveTo>
                <a:lnTo>
                  <a:pt x="1048749" y="0"/>
                </a:lnTo>
                <a:lnTo>
                  <a:pt x="1048749" y="1184418"/>
                </a:lnTo>
                <a:lnTo>
                  <a:pt x="0" y="11844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7861382" y="1571267"/>
            <a:ext cx="294652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Efficiency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59322" y="2564348"/>
            <a:ext cx="294652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spc="-90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Automated loading reduces manual decision time.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76337" y="1516228"/>
            <a:ext cx="294652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Damage Prevention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84782" y="2564348"/>
            <a:ext cx="2946520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Fragile handling awareness reduces breakage and returns.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344592" y="4550017"/>
            <a:ext cx="3858760" cy="2777157"/>
            <a:chOff x="0" y="0"/>
            <a:chExt cx="1016299" cy="7314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6299" cy="731432"/>
            </a:xfrm>
            <a:custGeom>
              <a:avLst/>
              <a:gdLst/>
              <a:ahLst/>
              <a:cxnLst/>
              <a:rect l="l" t="t" r="r" b="b"/>
              <a:pathLst>
                <a:path w="1016299" h="731432">
                  <a:moveTo>
                    <a:pt x="50158" y="0"/>
                  </a:moveTo>
                  <a:lnTo>
                    <a:pt x="966141" y="0"/>
                  </a:lnTo>
                  <a:cubicBezTo>
                    <a:pt x="993842" y="0"/>
                    <a:pt x="1016299" y="22457"/>
                    <a:pt x="1016299" y="50158"/>
                  </a:cubicBezTo>
                  <a:lnTo>
                    <a:pt x="1016299" y="681274"/>
                  </a:lnTo>
                  <a:cubicBezTo>
                    <a:pt x="1016299" y="694577"/>
                    <a:pt x="1011014" y="707335"/>
                    <a:pt x="1001608" y="716741"/>
                  </a:cubicBezTo>
                  <a:cubicBezTo>
                    <a:pt x="992201" y="726148"/>
                    <a:pt x="979444" y="731432"/>
                    <a:pt x="966141" y="731432"/>
                  </a:cubicBezTo>
                  <a:lnTo>
                    <a:pt x="50158" y="731432"/>
                  </a:lnTo>
                  <a:cubicBezTo>
                    <a:pt x="22457" y="731432"/>
                    <a:pt x="0" y="708976"/>
                    <a:pt x="0" y="681274"/>
                  </a:cubicBezTo>
                  <a:lnTo>
                    <a:pt x="0" y="50158"/>
                  </a:lnTo>
                  <a:cubicBezTo>
                    <a:pt x="0" y="22457"/>
                    <a:pt x="22457" y="0"/>
                    <a:pt x="50158" y="0"/>
                  </a:cubicBezTo>
                  <a:close/>
                </a:path>
              </a:pathLst>
            </a:custGeom>
            <a:solidFill>
              <a:srgbClr val="ECE3C0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38100"/>
              <a:ext cx="1016299" cy="69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65932" y="4550017"/>
            <a:ext cx="3858760" cy="2777157"/>
            <a:chOff x="0" y="0"/>
            <a:chExt cx="1016299" cy="7314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16299" cy="731432"/>
            </a:xfrm>
            <a:custGeom>
              <a:avLst/>
              <a:gdLst/>
              <a:ahLst/>
              <a:cxnLst/>
              <a:rect l="l" t="t" r="r" b="b"/>
              <a:pathLst>
                <a:path w="1016299" h="731432">
                  <a:moveTo>
                    <a:pt x="50158" y="0"/>
                  </a:moveTo>
                  <a:lnTo>
                    <a:pt x="966141" y="0"/>
                  </a:lnTo>
                  <a:cubicBezTo>
                    <a:pt x="993842" y="0"/>
                    <a:pt x="1016299" y="22457"/>
                    <a:pt x="1016299" y="50158"/>
                  </a:cubicBezTo>
                  <a:lnTo>
                    <a:pt x="1016299" y="681274"/>
                  </a:lnTo>
                  <a:cubicBezTo>
                    <a:pt x="1016299" y="694577"/>
                    <a:pt x="1011014" y="707335"/>
                    <a:pt x="1001608" y="716741"/>
                  </a:cubicBezTo>
                  <a:cubicBezTo>
                    <a:pt x="992201" y="726148"/>
                    <a:pt x="979444" y="731432"/>
                    <a:pt x="966141" y="731432"/>
                  </a:cubicBezTo>
                  <a:lnTo>
                    <a:pt x="50158" y="731432"/>
                  </a:lnTo>
                  <a:cubicBezTo>
                    <a:pt x="22457" y="731432"/>
                    <a:pt x="0" y="708976"/>
                    <a:pt x="0" y="681274"/>
                  </a:cubicBezTo>
                  <a:lnTo>
                    <a:pt x="0" y="50158"/>
                  </a:lnTo>
                  <a:cubicBezTo>
                    <a:pt x="0" y="22457"/>
                    <a:pt x="22457" y="0"/>
                    <a:pt x="50158" y="0"/>
                  </a:cubicBezTo>
                  <a:close/>
                </a:path>
              </a:pathLst>
            </a:custGeom>
            <a:solidFill>
              <a:srgbClr val="ECE3C0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1016299" cy="69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800712" y="4821960"/>
            <a:ext cx="294652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Transparency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24006" y="5717310"/>
            <a:ext cx="3499931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Clear visibility into package and dispatch status.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90169" y="4821960"/>
            <a:ext cx="359076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104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Improved Planning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42201" y="5471920"/>
            <a:ext cx="2946520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Visual analytics help managers plan future dispatches more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07890" y="1028700"/>
            <a:ext cx="10051410" cy="8229600"/>
            <a:chOff x="0" y="0"/>
            <a:chExt cx="1260261" cy="103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261" cy="1031840"/>
            </a:xfrm>
            <a:custGeom>
              <a:avLst/>
              <a:gdLst/>
              <a:ahLst/>
              <a:cxnLst/>
              <a:rect l="l" t="t" r="r" b="b"/>
              <a:pathLst>
                <a:path w="1260261" h="1031840">
                  <a:moveTo>
                    <a:pt x="19256" y="0"/>
                  </a:moveTo>
                  <a:lnTo>
                    <a:pt x="1241005" y="0"/>
                  </a:lnTo>
                  <a:cubicBezTo>
                    <a:pt x="1246112" y="0"/>
                    <a:pt x="1251010" y="2029"/>
                    <a:pt x="1254621" y="5640"/>
                  </a:cubicBezTo>
                  <a:cubicBezTo>
                    <a:pt x="1258233" y="9251"/>
                    <a:pt x="1260261" y="14149"/>
                    <a:pt x="1260261" y="19256"/>
                  </a:cubicBezTo>
                  <a:lnTo>
                    <a:pt x="1260261" y="1012584"/>
                  </a:lnTo>
                  <a:cubicBezTo>
                    <a:pt x="1260261" y="1017691"/>
                    <a:pt x="1258233" y="1022589"/>
                    <a:pt x="1254621" y="1026200"/>
                  </a:cubicBezTo>
                  <a:cubicBezTo>
                    <a:pt x="1251010" y="1029811"/>
                    <a:pt x="1246112" y="1031840"/>
                    <a:pt x="1241005" y="1031840"/>
                  </a:cubicBezTo>
                  <a:lnTo>
                    <a:pt x="19256" y="1031840"/>
                  </a:lnTo>
                  <a:cubicBezTo>
                    <a:pt x="14149" y="1031840"/>
                    <a:pt x="9251" y="1029811"/>
                    <a:pt x="5640" y="1026200"/>
                  </a:cubicBezTo>
                  <a:cubicBezTo>
                    <a:pt x="2029" y="1022589"/>
                    <a:pt x="0" y="1017691"/>
                    <a:pt x="0" y="1012584"/>
                  </a:cubicBezTo>
                  <a:lnTo>
                    <a:pt x="0" y="19256"/>
                  </a:lnTo>
                  <a:cubicBezTo>
                    <a:pt x="0" y="14149"/>
                    <a:pt x="2029" y="9251"/>
                    <a:pt x="5640" y="5640"/>
                  </a:cubicBezTo>
                  <a:cubicBezTo>
                    <a:pt x="9251" y="2029"/>
                    <a:pt x="14149" y="0"/>
                    <a:pt x="19256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260261" cy="99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51026"/>
            <a:ext cx="1425926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Deliverables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18748" y="235650"/>
            <a:ext cx="793050" cy="7930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96985">
            <a:off x="961000" y="4284944"/>
            <a:ext cx="6179190" cy="4887177"/>
          </a:xfrm>
          <a:custGeom>
            <a:avLst/>
            <a:gdLst/>
            <a:ahLst/>
            <a:cxnLst/>
            <a:rect l="l" t="t" r="r" b="b"/>
            <a:pathLst>
              <a:path w="6179190" h="4887177">
                <a:moveTo>
                  <a:pt x="0" y="0"/>
                </a:moveTo>
                <a:lnTo>
                  <a:pt x="6179190" y="0"/>
                </a:lnTo>
                <a:lnTo>
                  <a:pt x="6179190" y="4887177"/>
                </a:lnTo>
                <a:lnTo>
                  <a:pt x="0" y="4887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408182" y="1185976"/>
            <a:ext cx="9618312" cy="78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Relational Database Design (ERD)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Tables for packages, trucks, dispatches, stops, load plans, and placements.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Dataset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Realistic synthetic data for packages, addresses, trucks, and delivery routes.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Truck Loading Algorithm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Python-based logic for placement and utilization calculation.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3D Truck Load Visualization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Graphical representation of package placement inside trucks.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Route Map Visualization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Map showing delivery stops and route sequence.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 Dashboard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Interactive interface for KPIs, package search, utilization, and route views.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408182" y="41225"/>
            <a:ext cx="388849" cy="3888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44801"/>
            <a:ext cx="16230600" cy="7313499"/>
            <a:chOff x="0" y="0"/>
            <a:chExt cx="2035017" cy="916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5017" cy="916978"/>
            </a:xfrm>
            <a:custGeom>
              <a:avLst/>
              <a:gdLst/>
              <a:ahLst/>
              <a:cxnLst/>
              <a:rect l="l" t="t" r="r" b="b"/>
              <a:pathLst>
                <a:path w="2035017" h="916978">
                  <a:moveTo>
                    <a:pt x="11925" y="0"/>
                  </a:moveTo>
                  <a:lnTo>
                    <a:pt x="2023093" y="0"/>
                  </a:lnTo>
                  <a:cubicBezTo>
                    <a:pt x="2029678" y="0"/>
                    <a:pt x="2035017" y="5339"/>
                    <a:pt x="2035017" y="11925"/>
                  </a:cubicBezTo>
                  <a:lnTo>
                    <a:pt x="2035017" y="905053"/>
                  </a:lnTo>
                  <a:cubicBezTo>
                    <a:pt x="2035017" y="911639"/>
                    <a:pt x="2029678" y="916978"/>
                    <a:pt x="2023093" y="916978"/>
                  </a:cubicBezTo>
                  <a:lnTo>
                    <a:pt x="11925" y="916978"/>
                  </a:lnTo>
                  <a:cubicBezTo>
                    <a:pt x="5339" y="916978"/>
                    <a:pt x="0" y="911639"/>
                    <a:pt x="0" y="905053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035017" cy="878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51026"/>
            <a:ext cx="1425926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Feasibility Analysis And Solution Evaluation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908038" y="392926"/>
            <a:ext cx="793050" cy="7930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3330" y="2072538"/>
            <a:ext cx="15761339" cy="78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Feasibility Analysis</a:t>
            </a:r>
          </a:p>
          <a:p>
            <a:pPr algn="l">
              <a:lnSpc>
                <a:spcPts val="2999"/>
              </a:lnSpc>
            </a:pPr>
            <a:endParaRPr lang="en-US" sz="2499" b="1" spc="-87">
              <a:solidFill>
                <a:srgbClr val="282A2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Technical Feasibility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Uses widely available technologies (relational databases, Python, visualization libraries).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Feasibility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Aligns with real logistics workflows and stakeholder roles.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Economic Feasibility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Concept demonstrates value without requiring expensive hardware or proprietary software.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Evaluation</a:t>
            </a:r>
          </a:p>
          <a:p>
            <a:pPr algn="l">
              <a:lnSpc>
                <a:spcPts val="2999"/>
              </a:lnSpc>
            </a:pPr>
            <a:endParaRPr lang="en-US" sz="2499" b="1" spc="-87">
              <a:solidFill>
                <a:srgbClr val="282A2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999"/>
              </a:lnSpc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The completed system helps solve the identified problems by: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Automating complex truck loading decisions.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Providing visibility into fragile handling and utilization.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Integrating package tracking, loading, and routing in one system.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Offering intuitive visualizations for managers and employees.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3697472" y="198501"/>
            <a:ext cx="388849" cy="38884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35636"/>
            <a:ext cx="16230600" cy="7522664"/>
            <a:chOff x="0" y="0"/>
            <a:chExt cx="2035017" cy="9432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5017" cy="943203"/>
            </a:xfrm>
            <a:custGeom>
              <a:avLst/>
              <a:gdLst/>
              <a:ahLst/>
              <a:cxnLst/>
              <a:rect l="l" t="t" r="r" b="b"/>
              <a:pathLst>
                <a:path w="2035017" h="943203">
                  <a:moveTo>
                    <a:pt x="11925" y="0"/>
                  </a:moveTo>
                  <a:lnTo>
                    <a:pt x="2023093" y="0"/>
                  </a:lnTo>
                  <a:cubicBezTo>
                    <a:pt x="2029678" y="0"/>
                    <a:pt x="2035017" y="5339"/>
                    <a:pt x="2035017" y="11925"/>
                  </a:cubicBezTo>
                  <a:lnTo>
                    <a:pt x="2035017" y="931278"/>
                  </a:lnTo>
                  <a:cubicBezTo>
                    <a:pt x="2035017" y="937864"/>
                    <a:pt x="2029678" y="943203"/>
                    <a:pt x="2023093" y="943203"/>
                  </a:cubicBezTo>
                  <a:lnTo>
                    <a:pt x="11925" y="943203"/>
                  </a:lnTo>
                  <a:cubicBezTo>
                    <a:pt x="5339" y="943203"/>
                    <a:pt x="0" y="937864"/>
                    <a:pt x="0" y="931278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E01D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035017" cy="905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51026"/>
            <a:ext cx="14259267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Lessons Learned, Limitations &amp; Future Work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382463" y="392926"/>
            <a:ext cx="793050" cy="7930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3330" y="1944801"/>
            <a:ext cx="15761339" cy="742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Lessons Learned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Optimization is not purely mathematical operational practicality matters.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Visualization is critical for stakeholder understanding.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Data modeling decisions strongly influence system flexibility.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Balancing realism with prototype constraints is essential in academic projects.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 &amp; Future Work</a:t>
            </a:r>
          </a:p>
          <a:p>
            <a:pPr algn="l">
              <a:lnSpc>
                <a:spcPts val="2999"/>
              </a:lnSpc>
            </a:pPr>
            <a:endParaRPr lang="en-US" sz="2499" b="1" spc="-87">
              <a:solidFill>
                <a:srgbClr val="282A2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Limitations: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Route sequencing does not yet fully optimize for time windows or fuel cost.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3D visualization is static rather than fully interactive.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Real-time GPS tracking is not implemented.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r>
              <a:rPr lang="en-US" sz="2499" b="1" spc="-87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Work: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Stop-wise package grouping for easier unloading.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Interactive 3D truck visualization (rotation and filtering).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Advanced routing optimization (distance, time, fuel).</a:t>
            </a:r>
          </a:p>
          <a:p>
            <a:pPr marL="539748" lvl="1" indent="-269874" algn="l">
              <a:lnSpc>
                <a:spcPts val="2999"/>
              </a:lnSpc>
              <a:buFont typeface="Arial"/>
              <a:buChar char="•"/>
            </a:pPr>
            <a:r>
              <a:rPr lang="en-US" sz="2499" spc="-87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Real-time delivery monitoring.</a:t>
            </a: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999"/>
              </a:lnSpc>
            </a:pPr>
            <a:endParaRPr lang="en-US" sz="2499" spc="-87">
              <a:solidFill>
                <a:srgbClr val="282A2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171897" y="198501"/>
            <a:ext cx="388849" cy="38884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084174" y="6279455"/>
            <a:ext cx="3175126" cy="2978845"/>
          </a:xfrm>
          <a:custGeom>
            <a:avLst/>
            <a:gdLst/>
            <a:ahLst/>
            <a:cxnLst/>
            <a:rect l="l" t="t" r="r" b="b"/>
            <a:pathLst>
              <a:path w="3175126" h="2978845">
                <a:moveTo>
                  <a:pt x="3175126" y="0"/>
                </a:moveTo>
                <a:lnTo>
                  <a:pt x="0" y="0"/>
                </a:lnTo>
                <a:lnTo>
                  <a:pt x="0" y="2978845"/>
                </a:lnTo>
                <a:lnTo>
                  <a:pt x="3175126" y="2978845"/>
                </a:lnTo>
                <a:lnTo>
                  <a:pt x="31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5026" y="5918168"/>
            <a:ext cx="3291548" cy="3340132"/>
          </a:xfrm>
          <a:custGeom>
            <a:avLst/>
            <a:gdLst/>
            <a:ahLst/>
            <a:cxnLst/>
            <a:rect l="l" t="t" r="r" b="b"/>
            <a:pathLst>
              <a:path w="3291548" h="3340132">
                <a:moveTo>
                  <a:pt x="0" y="0"/>
                </a:moveTo>
                <a:lnTo>
                  <a:pt x="3291548" y="0"/>
                </a:lnTo>
                <a:lnTo>
                  <a:pt x="3291548" y="3340132"/>
                </a:lnTo>
                <a:lnTo>
                  <a:pt x="0" y="334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30800" y="1160128"/>
            <a:ext cx="1282640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b="1" spc="-325">
                <a:solidFill>
                  <a:srgbClr val="282A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30800" y="1811003"/>
            <a:ext cx="425969" cy="4259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68280" y="3877998"/>
            <a:ext cx="663546" cy="66354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521099" y="8488583"/>
            <a:ext cx="1245801" cy="253690"/>
          </a:xfrm>
          <a:custGeom>
            <a:avLst/>
            <a:gdLst/>
            <a:ahLst/>
            <a:cxnLst/>
            <a:rect l="l" t="t" r="r" b="b"/>
            <a:pathLst>
              <a:path w="1245801" h="253690">
                <a:moveTo>
                  <a:pt x="0" y="0"/>
                </a:moveTo>
                <a:lnTo>
                  <a:pt x="1245802" y="0"/>
                </a:lnTo>
                <a:lnTo>
                  <a:pt x="1245802" y="253690"/>
                </a:lnTo>
                <a:lnTo>
                  <a:pt x="0" y="253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280249" y="1811003"/>
            <a:ext cx="5727501" cy="5727501"/>
          </a:xfrm>
          <a:custGeom>
            <a:avLst/>
            <a:gdLst/>
            <a:ahLst/>
            <a:cxnLst/>
            <a:rect l="l" t="t" r="r" b="b"/>
            <a:pathLst>
              <a:path w="5727501" h="5727501">
                <a:moveTo>
                  <a:pt x="0" y="0"/>
                </a:moveTo>
                <a:lnTo>
                  <a:pt x="5727502" y="0"/>
                </a:lnTo>
                <a:lnTo>
                  <a:pt x="5727502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177855" y="7382612"/>
            <a:ext cx="5932289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u="sng" spc="-55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github.com/SaiTejaVemulapalli/Smart-Delivery-Load-Routing-and-Package-Management-System"/>
              </a:rPr>
              <a:t>Smart Delivery Load, Routing, and Package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809</Words>
  <Application>Microsoft Office PowerPoint</Application>
  <PresentationFormat>Custom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Open Sauce Bold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Delivery Services.</dc:title>
  <cp:lastModifiedBy>Sai Teja Vemulapalli</cp:lastModifiedBy>
  <cp:revision>2</cp:revision>
  <dcterms:created xsi:type="dcterms:W3CDTF">2006-08-16T00:00:00Z</dcterms:created>
  <dcterms:modified xsi:type="dcterms:W3CDTF">2025-12-10T23:14:49Z</dcterms:modified>
  <dc:identifier>DAG6efRHaDA</dc:identifier>
</cp:coreProperties>
</file>